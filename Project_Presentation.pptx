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99.2</c:v>
                </c:pt>
                <c:pt idx="1">
                  <c:v>88</c:v>
                </c:pt>
                <c:pt idx="2">
                  <c:v>83</c:v>
                </c:pt>
                <c:pt idx="3">
                  <c:v>85</c:v>
                </c:pt>
                <c:pt idx="4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A2-4CBC-9F41-A4BDC47E50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99.4</c:v>
                </c:pt>
                <c:pt idx="1">
                  <c:v>91</c:v>
                </c:pt>
                <c:pt idx="2">
                  <c:v>86</c:v>
                </c:pt>
                <c:pt idx="3">
                  <c:v>88</c:v>
                </c:pt>
                <c:pt idx="4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A2-4CBC-9F41-A4BDC47E50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F855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99.6</c:v>
                </c:pt>
                <c:pt idx="1">
                  <c:v>94</c:v>
                </c:pt>
                <c:pt idx="2">
                  <c:v>89</c:v>
                </c:pt>
                <c:pt idx="3">
                  <c:v>91</c:v>
                </c:pt>
                <c:pt idx="4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A2-4CBC-9F41-A4BDC47E508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99.7</c:v>
                </c:pt>
                <c:pt idx="1">
                  <c:v>97</c:v>
                </c:pt>
                <c:pt idx="2">
                  <c:v>93</c:v>
                </c:pt>
                <c:pt idx="3">
                  <c:v>95</c:v>
                </c:pt>
                <c:pt idx="4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AA2-4CBC-9F41-A4BDC47E50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4748B"/>
                    </a:solidFill>
                    <a:latin typeface="Arial"/>
                  </a:rPr>
                  <a:t>Score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4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906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669280" cy="5669280"/>
          </a:xfrm>
          <a:prstGeom prst="ellipse">
            <a:avLst/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188720"/>
            <a:ext cx="4389120" cy="4389120"/>
          </a:xfrm>
          <a:prstGeom prst="ellipse">
            <a:avLst/>
          </a:prstGeom>
          <a:ln w="12700">
            <a:solidFill>
              <a:srgbClr val="F2A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ln w="1524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847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COEN807 TERM PROJECT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21945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Learning-Based Credit Card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Algorithms and Hyperparameter Optimization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5440680"/>
            <a:ext cx="54864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5623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 Hassan Muhammad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P25EGCP8021 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Department of Computer Engineering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Ahmadu Bello University, Zaria  •  June 2026</a:t>
            </a:r>
            <a:endParaRPr lang="en-US" sz="13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479885-B9C0-74F2-7350-86CE114FA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4948"/>
            <a:ext cx="764771" cy="6839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5321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 OVERVIEW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5669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Growing Threat of Credit Card Fraud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15407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38074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 Class Imbalance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143000" y="1691640"/>
            <a:ext cx="6263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transactions vastly outnumber fraud, biasing standard models toward the majority class and masking poor fraud recall behind high accuracy.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" y="2715768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" y="283921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6791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Constantly Evolving Tactics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143000" y="2990088"/>
            <a:ext cx="6263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continuously adapt their methods, making static, manually-defined rule-based systems increasingly ineffective at catching new patterns.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4014216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" y="413766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97764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vs. Recall Trade-off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143000" y="4288536"/>
            <a:ext cx="6263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effective system must catch fraud aggressively while keeping false positives low — too many false alarms erode customer trust.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772400" y="1417320"/>
            <a:ext cx="3931920" cy="4526280"/>
          </a:xfrm>
          <a:prstGeom prst="roundRect">
            <a:avLst>
              <a:gd name="adj" fmla="val 1628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777240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772400" y="20574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0.172%</a:t>
            </a:r>
            <a:endParaRPr lang="en-US" sz="6400" dirty="0"/>
          </a:p>
        </p:txBody>
      </p:sp>
      <p:sp>
        <p:nvSpPr>
          <p:cNvPr id="21" name="Text 15"/>
          <p:cNvSpPr/>
          <p:nvPr/>
        </p:nvSpPr>
        <p:spPr>
          <a:xfrm>
            <a:off x="8092440" y="3246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284,807 transactions in the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MLG-ULB dataset are fraudulent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138160" y="4023360"/>
            <a:ext cx="32004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772400" y="41605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492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8092440" y="47365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to find among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thousands of records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COEN807 Term Project  •  Credit Card Fraud Detection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5321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DATASET DESCRIPTION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5669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MLG-ULB Credit Card Fraud Dataset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688336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44475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284,807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90195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0128" y="1371600"/>
            <a:ext cx="2688336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10128" y="144475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310128" y="190195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(0.172%)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63056" y="1371600"/>
            <a:ext cx="2688336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63056" y="144475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+ 1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163056" y="190195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+ Target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015984" y="1371600"/>
            <a:ext cx="2688336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015984" y="144475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Days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015984" y="190195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 2013, EU Cardholders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CHARACTERISTICS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5486400" cy="2057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types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Time, Amount (raw); V1-V28 (PCA)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reported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Class: 1 = fraud, 0 = legitimate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Legitimate 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284,315 (99.828%)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26364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263640" y="296265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18"/>
          <p:cNvSpPr/>
          <p:nvPr/>
        </p:nvSpPr>
        <p:spPr>
          <a:xfrm>
            <a:off x="6510528" y="28163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Realism:  </a:t>
            </a: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Genuine, production-derived data — captures true class-imbalance severity.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263640" y="358902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0"/>
          <p:cNvSpPr/>
          <p:nvPr/>
        </p:nvSpPr>
        <p:spPr>
          <a:xfrm>
            <a:off x="6510528" y="34427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Status:  </a:t>
            </a: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public benchmark, enabling comparison against prior research.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263640" y="421538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2"/>
          <p:cNvSpPr/>
          <p:nvPr/>
        </p:nvSpPr>
        <p:spPr>
          <a:xfrm>
            <a:off x="6510528" y="4069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Privacy-by-Design:  </a:t>
            </a: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anonymization protects cardholders while preserving statistical structure.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263640" y="484174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4"/>
          <p:cNvSpPr/>
          <p:nvPr/>
        </p:nvSpPr>
        <p:spPr>
          <a:xfrm>
            <a:off x="6510528" y="46954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Fit:  </a:t>
            </a: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imbalance ratio suit resampling, cost-sensitive evaluation, and tuning.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COEN807 Term Project  •  Credit Card Fraud Detection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5321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METHODOLOGY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5669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&amp; Model Selection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764792" cy="868680"/>
          </a:xfrm>
          <a:prstGeom prst="roundRect">
            <a:avLst>
              <a:gd name="adj" fmla="val 6316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472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69164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26564" y="1709928"/>
            <a:ext cx="114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345436" y="1417320"/>
            <a:ext cx="1764792" cy="868680"/>
          </a:xfrm>
          <a:prstGeom prst="roundRect">
            <a:avLst>
              <a:gd name="adj" fmla="val 6316"/>
            </a:avLst>
          </a:prstGeom>
          <a:solidFill>
            <a:srgbClr val="0B1F3A"/>
          </a:solidFill>
          <a:ln/>
        </p:spPr>
      </p:sp>
      <p:sp>
        <p:nvSpPr>
          <p:cNvPr id="11" name="Text 8"/>
          <p:cNvSpPr/>
          <p:nvPr/>
        </p:nvSpPr>
        <p:spPr>
          <a:xfrm>
            <a:off x="2436876" y="1472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418588" y="169164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0" y="1709928"/>
            <a:ext cx="114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233672" y="1417320"/>
            <a:ext cx="1764792" cy="868680"/>
          </a:xfrm>
          <a:prstGeom prst="roundRect">
            <a:avLst>
              <a:gd name="adj" fmla="val 6316"/>
            </a:avLst>
          </a:prstGeom>
          <a:solidFill>
            <a:srgbClr val="0B1F3A"/>
          </a:solidFill>
          <a:ln/>
        </p:spPr>
      </p:sp>
      <p:sp>
        <p:nvSpPr>
          <p:cNvPr id="15" name="Text 12"/>
          <p:cNvSpPr/>
          <p:nvPr/>
        </p:nvSpPr>
        <p:spPr>
          <a:xfrm>
            <a:off x="4325112" y="1472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06824" y="169164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03036" y="1709928"/>
            <a:ext cx="114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21908" y="1417320"/>
            <a:ext cx="1764792" cy="868680"/>
          </a:xfrm>
          <a:prstGeom prst="roundRect">
            <a:avLst>
              <a:gd name="adj" fmla="val 6316"/>
            </a:avLst>
          </a:prstGeom>
          <a:solidFill>
            <a:srgbClr val="0B1F3A"/>
          </a:solidFill>
          <a:ln/>
        </p:spPr>
      </p:sp>
      <p:sp>
        <p:nvSpPr>
          <p:cNvPr id="19" name="Text 16"/>
          <p:cNvSpPr/>
          <p:nvPr/>
        </p:nvSpPr>
        <p:spPr>
          <a:xfrm>
            <a:off x="6213348" y="1472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95060" y="169164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(SMOTE)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891272" y="1709928"/>
            <a:ext cx="114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010144" y="1417320"/>
            <a:ext cx="1764792" cy="868680"/>
          </a:xfrm>
          <a:prstGeom prst="roundRect">
            <a:avLst>
              <a:gd name="adj" fmla="val 6316"/>
            </a:avLst>
          </a:prstGeom>
          <a:solidFill>
            <a:srgbClr val="0B1F3A"/>
          </a:solidFill>
          <a:ln/>
        </p:spPr>
      </p:sp>
      <p:sp>
        <p:nvSpPr>
          <p:cNvPr id="23" name="Text 20"/>
          <p:cNvSpPr/>
          <p:nvPr/>
        </p:nvSpPr>
        <p:spPr>
          <a:xfrm>
            <a:off x="8101584" y="1472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083296" y="169164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Tuning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779508" y="1709928"/>
            <a:ext cx="114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9898380" y="1417320"/>
            <a:ext cx="1764792" cy="868680"/>
          </a:xfrm>
          <a:prstGeom prst="roundRect">
            <a:avLst>
              <a:gd name="adj" fmla="val 6316"/>
            </a:avLst>
          </a:prstGeom>
          <a:solidFill>
            <a:srgbClr val="F2A93B"/>
          </a:solidFill>
          <a:ln/>
        </p:spPr>
      </p:sp>
      <p:sp>
        <p:nvSpPr>
          <p:cNvPr id="27" name="Text 24"/>
          <p:cNvSpPr/>
          <p:nvPr/>
        </p:nvSpPr>
        <p:spPr>
          <a:xfrm>
            <a:off x="9989820" y="1472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971532" y="169164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 FAMILIES COMPARED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57200" y="2971800"/>
            <a:ext cx="2688336" cy="288036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0080" y="3172968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3296412"/>
            <a:ext cx="256032" cy="25603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40080" y="381304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34" name="Text 30"/>
          <p:cNvSpPr/>
          <p:nvPr/>
        </p:nvSpPr>
        <p:spPr>
          <a:xfrm>
            <a:off x="640080" y="438912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highly interpretable baseline. L1/L2 regularization tuned to control overfitting.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3310128" y="2971800"/>
            <a:ext cx="2688336" cy="288036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3493008" y="3172968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452" y="3296412"/>
            <a:ext cx="256032" cy="25603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3493008" y="381304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</a:t>
            </a:r>
            <a:endParaRPr lang="en-US" sz="1450" dirty="0"/>
          </a:p>
        </p:txBody>
      </p:sp>
      <p:sp>
        <p:nvSpPr>
          <p:cNvPr id="39" name="Text 34"/>
          <p:cNvSpPr/>
          <p:nvPr/>
        </p:nvSpPr>
        <p:spPr>
          <a:xfrm>
            <a:off x="3493008" y="438912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Margin-based classifier; strong separation but costlier at high transaction volumes.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163056" y="2971800"/>
            <a:ext cx="2688336" cy="288036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6345936" y="3172968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380" y="3296412"/>
            <a:ext cx="256032" cy="25603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345936" y="381304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44" name="Text 38"/>
          <p:cNvSpPr/>
          <p:nvPr/>
        </p:nvSpPr>
        <p:spPr>
          <a:xfrm>
            <a:off x="6345936" y="438912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ensemble capturing non-linear interactions; robust with built-in feature importance.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9015984" y="2971800"/>
            <a:ext cx="2688336" cy="288036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9198864" y="3172968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2308" y="3296412"/>
            <a:ext cx="256032" cy="256032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9198864" y="381304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450" dirty="0"/>
          </a:p>
        </p:txBody>
      </p:sp>
      <p:sp>
        <p:nvSpPr>
          <p:cNvPr id="49" name="Text 42"/>
          <p:cNvSpPr/>
          <p:nvPr/>
        </p:nvSpPr>
        <p:spPr>
          <a:xfrm>
            <a:off x="9198864" y="438912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ensemble with native scale_pos_weight; primary candidate for best performance.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COEN807 Term Project  •  Credit Card Fraud Detection</a:t>
            </a:r>
            <a:endParaRPr lang="en-US" sz="900" dirty="0"/>
          </a:p>
        </p:txBody>
      </p:sp>
      <p:sp>
        <p:nvSpPr>
          <p:cNvPr id="51" name="Text 44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5321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EXPERIMENTAL SETUP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5669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Validation &amp; Search Strategy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 SPACE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685800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Hyperparameters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Method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C; penalty (l1/l2); class_weight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GridSearchCV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n_estimators; max_depth; min_samples_leaf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RandomizedSearchCV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max_depth; learning_rate; scale_pos_weight; subsample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RandomizedSearchCV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hidden_layer_sizes; alpha (L2); learning_rate_init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RandomizedSearchCV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251960"/>
            <a:ext cx="68580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85800" y="4480560"/>
            <a:ext cx="457200" cy="45720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58114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4434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 STRATEGY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325880" y="4754880"/>
            <a:ext cx="5806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CV on the 80% training set, preserving fraud ratio in every fold.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20% test set touched only once, after hyperparameter selection.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scored on PR-AUC (average precision), not raw accuracy.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763524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ENVIRONMENT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635240" y="1645920"/>
            <a:ext cx="4069080" cy="4297680"/>
          </a:xfrm>
          <a:prstGeom prst="roundRect">
            <a:avLst>
              <a:gd name="adj" fmla="val 157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252460" y="1874520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199796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9642348" y="1874520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792" y="1997964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62288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11032236" y="1874520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0" y="1997964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552176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8252460" y="3200400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904" y="3323844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77240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9642348" y="3200400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5792" y="3323844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162288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50" dirty="0"/>
          </a:p>
        </p:txBody>
      </p:sp>
      <p:sp>
        <p:nvSpPr>
          <p:cNvPr id="30" name="Shape 20"/>
          <p:cNvSpPr/>
          <p:nvPr/>
        </p:nvSpPr>
        <p:spPr>
          <a:xfrm>
            <a:off x="11032236" y="3200400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80" y="3323844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0552176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33" name="Shape 22"/>
          <p:cNvSpPr/>
          <p:nvPr/>
        </p:nvSpPr>
        <p:spPr>
          <a:xfrm>
            <a:off x="8252460" y="4526280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5904" y="4649724"/>
            <a:ext cx="256032" cy="25603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77240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Imbalanced-Learn</a:t>
            </a:r>
            <a:endParaRPr lang="en-US" sz="1050" dirty="0"/>
          </a:p>
        </p:txBody>
      </p:sp>
      <p:sp>
        <p:nvSpPr>
          <p:cNvPr id="36" name="Shape 24"/>
          <p:cNvSpPr/>
          <p:nvPr/>
        </p:nvSpPr>
        <p:spPr>
          <a:xfrm>
            <a:off x="9642348" y="4526280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5792" y="4649724"/>
            <a:ext cx="256032" cy="25603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162288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39" name="Shape 26"/>
          <p:cNvSpPr/>
          <p:nvPr/>
        </p:nvSpPr>
        <p:spPr>
          <a:xfrm>
            <a:off x="11032236" y="4526280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55680" y="4649724"/>
            <a:ext cx="256032" cy="25603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10552176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050" dirty="0"/>
          </a:p>
        </p:txBody>
      </p:sp>
      <p:sp>
        <p:nvSpPr>
          <p:cNvPr id="42" name="Text 2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COEN807 Term Project  •  Credit Card Fraud Detection</a:t>
            </a:r>
            <a:endParaRPr lang="en-US" sz="900" dirty="0"/>
          </a:p>
        </p:txBody>
      </p:sp>
      <p:sp>
        <p:nvSpPr>
          <p:cNvPr id="43" name="Text 2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5321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RESULTS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5669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2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280160"/>
          <a:ext cx="11430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2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leads on every single metric — 99.7% accuracy, 97% precision, and 99% ROC-AUC — while keeping false positives low.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COEN807 Term Project  •  Credit Card Fraud Detection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5321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COMPARATIVE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5669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Trade-offs by Model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688336" cy="41605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18488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174193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25856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0080" y="2788920"/>
            <a:ext cx="23225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interpretable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some fraud cases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sufficient alone for deployment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10128" y="1417320"/>
            <a:ext cx="2688336" cy="41605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93008" y="1618488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452" y="174193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93008" y="225856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493008" y="2788920"/>
            <a:ext cx="23225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fraud detection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classification errors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compute cost at scale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63056" y="1417320"/>
            <a:ext cx="2688336" cy="41605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45936" y="1618488"/>
            <a:ext cx="502920" cy="50292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380" y="174193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45936" y="225856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345936" y="2788920"/>
            <a:ext cx="23225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complex fraud patterns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negatives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precision/recall balance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015984" y="1417320"/>
            <a:ext cx="2688336" cy="4160520"/>
          </a:xfrm>
          <a:prstGeom prst="roundRect">
            <a:avLst>
              <a:gd name="adj" fmla="val 2381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198864" y="161848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2308" y="174193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98864" y="225856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9198864" y="2788920"/>
            <a:ext cx="23225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across every metric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false positives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effective on difficult patterns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9198864" y="516636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ROC analysis:  </a:t>
            </a:r>
            <a:r>
              <a:rPr lang="en-US" sz="115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generates the most true positives and fewest false negatives, with the highest AUC — followed by Random Forest, SVM, then Logistic Regression.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COEN807 Term Project  •  Credit Card Fraud Detection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5321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KEY FINDINGS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5669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Experiments Revealed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623060"/>
            <a:ext cx="457200" cy="45720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17373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5179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Is the Clear Winner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80160" y="18745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 on every metric: 99.7% accuracy, 97% precision, 93% recall, and 99% ROC-AUC.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80760" y="137160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81928" y="1623060"/>
            <a:ext cx="457200" cy="45720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228" y="17373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15179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Ensembles Beat Linear Models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903720" y="18745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XGBoost clearly outperform Logistic Regression on the PCA-transformed feature space.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953512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8368" y="3204972"/>
            <a:ext cx="457200" cy="45720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" y="3319272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309981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SMOTE Boosted Recall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280160" y="345643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oversampling helped models learn minority-class (fraud) patterns, measurably raising recall.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080760" y="2953512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81928" y="3204972"/>
            <a:ext cx="457200" cy="45720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6228" y="3319272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03720" y="309981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Added Robustness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903720" y="345643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Grid/RandomizedSearchCV improved predictive performance and stability beyond resampling alone.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4535424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58368" y="4786884"/>
            <a:ext cx="457200" cy="45720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" y="4901184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80160" y="46817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 False Negatives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1280160" y="503834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XGBoost's confusion matrix showed the fewest missed-fraud cases among all four models tested.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080760" y="4535424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281928" y="4786884"/>
            <a:ext cx="457200" cy="45720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6228" y="4901184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03720" y="46817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Deployment-Ready Profile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6903720" y="503834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with a low false-positive rate makes XGBoost suited to real-time transaction screening.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COEN807 Term Project  •  Credit Card Fraud Detection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5321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CHALLENGES &amp; LESSONS LEARNED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5669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Practical Constraints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623060"/>
            <a:ext cx="457200" cy="457200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17373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5179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Anonymization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80160" y="18745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V1-V28 obscure real-world meaning, limiting interpretability of what actually drives fraud.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80760" y="137160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81928" y="1623060"/>
            <a:ext cx="457200" cy="457200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228" y="17373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15179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 Class Imbalance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903720" y="18745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492 of 284,807 transactions are fraud; synthetic oversampling can't fully replicate real fraud behavior.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953512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8368" y="3204972"/>
            <a:ext cx="457200" cy="457200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" y="3319272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309981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Coverage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280160" y="345643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cardholders, two days in Sept. 2013 only — limits generalizability across regions and time.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080760" y="2953512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81928" y="3204972"/>
            <a:ext cx="457200" cy="457200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6228" y="3319272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03720" y="309981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Dataset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903720" y="345643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fraud strategies and customer behavior evolve; static training data risks performance drift in production.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4535424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58368" y="4786884"/>
            <a:ext cx="457200" cy="457200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" y="4901184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80160" y="46817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Cost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1280160" y="503834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and SVM tuning demand significant training time, memory, and infrastructure.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080760" y="4535424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281928" y="4786884"/>
            <a:ext cx="457200" cy="457200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6228" y="4901184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03720" y="46817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Bias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6903720" y="503834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regional cardholder population may not reflect global transaction demographics.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COEN807 Term Project  •  Credit Card Fraud Detection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ln w="1524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657600"/>
            <a:ext cx="4937760" cy="4937760"/>
          </a:xfrm>
          <a:prstGeom prst="ellipse">
            <a:avLst/>
          </a:prstGeom>
          <a:ln w="1524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98932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393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CONCLUSION &amp; FUTURE WORK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88720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 Deployable, Adaptive Fraud Detection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provides a powerful, effective approach to credit card fraud detection. Combining advanced classifiers with class-imbalance handling (SMOTE) and systematic hyperparameter optimization produced highly accurate, low-false-positive models.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2926080"/>
            <a:ext cx="6492240" cy="1417320"/>
          </a:xfrm>
          <a:prstGeom prst="roundRect">
            <a:avLst>
              <a:gd name="adj" fmla="val 4516"/>
            </a:avLst>
          </a:prstGeom>
          <a:solidFill>
            <a:srgbClr val="12294D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312724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2324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0906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— Recommended for Deployment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600200" y="3456432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predictive performance, robustness, and the lowest false-negative rate among all models tested.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31520" y="46177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 — DEEP LEARNING FOR TEMPORAL FRAUD PATTERNS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4983480"/>
            <a:ext cx="502920" cy="502920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51069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" y="55321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359152" y="4983480"/>
            <a:ext cx="502920" cy="502920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596" y="510692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84832" y="55321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986784" y="4983480"/>
            <a:ext cx="502920" cy="502920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0228" y="510692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12464" y="55321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614416" y="4983480"/>
            <a:ext cx="502920" cy="502920"/>
          </a:xfrm>
          <a:prstGeom prst="ellipse">
            <a:avLst/>
          </a:prstGeom>
          <a:solidFill>
            <a:srgbClr val="12294D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7860" y="5106924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40096" y="55321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7772400" y="1417320"/>
            <a:ext cx="3931920" cy="4572000"/>
          </a:xfrm>
          <a:prstGeom prst="roundRect">
            <a:avLst>
              <a:gd name="adj" fmla="val 1628"/>
            </a:avLst>
          </a:prstGeom>
          <a:solidFill>
            <a:srgbClr val="12294D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80924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8092440" y="2057400"/>
            <a:ext cx="3337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MLG-ULB (Kaggle)</a:t>
            </a:r>
            <a:endParaRPr lang="en-US" sz="1200" dirty="0"/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compared: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(LR, SVM, RF, XGBoost)</a:t>
            </a:r>
            <a:endParaRPr lang="en-US" sz="1200" dirty="0"/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handling: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SMOTE, class weighting, undersampling</a:t>
            </a:r>
            <a:endParaRPr lang="en-US" sz="1200" dirty="0"/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method: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/ RandomizedSearchCV</a:t>
            </a:r>
            <a:endParaRPr lang="en-US" sz="1200" dirty="0"/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ROC-AUC:  </a:t>
            </a: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(XGBoost)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COEN807 Term Project  •  Credit Card Fraud Detection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B1AB8E-5692-9A68-CDA6-1FBB75EF559B}"/>
              </a:ext>
            </a:extLst>
          </p:cNvPr>
          <p:cNvSpPr txBox="1"/>
          <p:nvPr/>
        </p:nvSpPr>
        <p:spPr>
          <a:xfrm>
            <a:off x="3334873" y="1559856"/>
            <a:ext cx="56074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THANK YOU FOR</a:t>
            </a:r>
          </a:p>
          <a:p>
            <a:pPr algn="ctr"/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LISTENING</a:t>
            </a:r>
            <a:endParaRPr lang="en-NG" sz="6600" b="1" dirty="0">
              <a:solidFill>
                <a:schemeClr val="accent1">
                  <a:lumMod val="50000"/>
                </a:schemeClr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715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1101</Words>
  <Application>Microsoft Office PowerPoint</Application>
  <PresentationFormat>Widescreen</PresentationFormat>
  <Paragraphs>211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Candara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Learning-Based Credit Card Fraud Detection</dc:title>
  <dc:subject>PptxGenJS Presentation</dc:subject>
  <dc:creator>Sani Hassan Muhammad</dc:creator>
  <cp:lastModifiedBy>Sani Hassan Muhammad</cp:lastModifiedBy>
  <cp:revision>3</cp:revision>
  <dcterms:created xsi:type="dcterms:W3CDTF">2026-06-21T10:45:43Z</dcterms:created>
  <dcterms:modified xsi:type="dcterms:W3CDTF">2026-06-21T11:09:57Z</dcterms:modified>
</cp:coreProperties>
</file>